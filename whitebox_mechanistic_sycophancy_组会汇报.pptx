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Is Not One Mechanism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压力诱导的谄媚行为并非单一机制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965960"/>
            <a:ext cx="1828800" cy="10973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白盒机制视角下的信念漂移与身份/画像路径分离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组会汇报  ·  2026-04-29</a:t>
            </a:r>
            <a:endParaRPr lang="en-US" sz="10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什么是「谄媚」？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一个大家都能直觉理解的起点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动机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大模型会「看人下菜碟」——但背后的原因可能不止一种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155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核心现象：模型在用户施加压力后，会改变自己的回答来「迎合」用户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37360"/>
            <a:ext cx="45720" cy="21031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例子：信念类施压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用户：
</a:t>
            </a:r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「很多哲学家认为自由意志不存在，
你觉得呢？」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模型（无压力）：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「自由意志是一个有争议的哲学问题……」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模型（有压力）：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「确实，许多哲学家支持这一观点……」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737360"/>
            <a:ext cx="45720" cy="2103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例子：身份类施压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用户：
</a:t>
            </a:r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「作为一名保守派学者，
你会如何评价这项政策？」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模型（无身份框架）：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「这项政策有利有弊……」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模型（有身份框架）：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「从保守派立场来看，这项政策……」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FEF9E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959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两种情况看起来都是「模型在迎合用户」——但它们背后的内部机制一样吗？</a:t>
            </a:r>
            <a:endParaRPr lang="en-US" sz="11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核心洞察：相同的行为 ≠ 相同的机制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 doesn't mean same disease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动机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就像「发烧」可以由感冒、流感或新冠引起——谄媚也可以由不同内部路径产生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类比：发烧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3898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病人发烧了（行为）→ 可能是感冒、流感、新冠……（机制不同）→ 治疗方案也不同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同理：模型迎合用户（行为）→ 可能是信念漂移、身份框架、社会语境……（机制不同）→ 干预方案也不同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AFAF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286000"/>
            <a:ext cx="3840480" cy="320040"/>
          </a:xfrm>
          <a:prstGeom prst="rect">
            <a:avLst>
              <a:gd name="adj" fmla="val 17143"/>
            </a:avLst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322576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A：信念漂移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67004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用户的论据「推歪」了模型的内部表征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就像磁铁靠近指南针，指针偏了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可以用干预把指针「拨回来」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EF9E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2286000"/>
            <a:ext cx="3840480" cy="320040"/>
          </a:xfrm>
          <a:prstGeom prst="rect">
            <a:avLst>
              <a:gd name="adj" fmla="val 17143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2322576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B：身份/画像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267004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用户的身份信息改变了回答的「社会语境」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就像换了舞台布景，演员自然换了表演方式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很难用同一套方法「拨回来」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411480"/>
          </a:xfrm>
          <a:prstGeom prst="roundRect">
            <a:avLst>
              <a:gd name="adj" fmla="val 8889"/>
            </a:avLst>
          </a:prstGeom>
          <a:solidFill>
            <a:srgbClr val="EB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679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本文目标：用白盒方法打开模型内部，检验这两条路径是否真的不同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模型内部长什么样？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model's internal structure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方法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把模型想象成一条「信息流水线」——我们的干预发生在流水线的末端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7F8C8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95728" y="144018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 ×30+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144018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后层 (我们关注这里)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01968" y="1440180"/>
            <a:ext cx="146304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11887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188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30352" y="1920240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什么是「残差流」(Residual Stream)？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2121408"/>
            <a:ext cx="8083296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想象一条河流贯穿整个模型。每一层都会往河里「加料」（修改信息）。到了最后一层，河水的状态决定了模型的最终回答。我们的干预就是在河流末端「过滤」或「稀释」某些成分。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8229600" cy="411480"/>
          </a:xfrm>
          <a:prstGeom prst="roundRect">
            <a:avLst>
              <a:gd name="adj" fmla="val 8889"/>
            </a:avLst>
          </a:prstGeom>
          <a:solidFill>
            <a:srgbClr val="EAFAF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700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为什么关注「后层」？因为压力的影响主要在最后几层才「显现」——就像河流末端的水质最能反映上游的污染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30352" y="3246120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什么是「干预」(Intervention)？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3447288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像调音台旋钮：把残差流状态往「无压力时的状态」拉回来。方法：插值（取中间值）或子空间阻尼（压制特定方向）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645152" y="324612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「定位」vs「控制」？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5152" y="3447288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定位：找到问题在哪（GPS 找污染源）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控制：能修复问题（有净化设备）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关键：能定位 ≠ 能控制（Llama 证实）</a:t>
            </a:r>
            <a:endParaRPr lang="en-US" sz="8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实验设计：三阶段协议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test: Baseline → Pressured → Intervention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方法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对每个问题，我们比较模型在三种条件下的回答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43000"/>
            <a:ext cx="2606040" cy="347472"/>
          </a:xfrm>
          <a:prstGeom prst="rect">
            <a:avLst>
              <a:gd name="adj" fmla="val 15789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79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① 基线 (Baseline)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554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直接问模型问题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不加任何压力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记录「真实立场」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81528" y="1920240"/>
            <a:ext cx="201168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1430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143000"/>
            <a:ext cx="2606040" cy="347472"/>
          </a:xfrm>
          <a:prstGeom prst="rect">
            <a:avLst>
              <a:gd name="adj" fmla="val 15789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179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② 施压 (Pressured)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554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在问题中加入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信念论据或身份框架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观察模型是否「变节」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6168" y="1920240"/>
            <a:ext cx="201168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26480" y="11430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43000"/>
            <a:ext cx="2606040" cy="347472"/>
          </a:xfrm>
          <a:prstGeom prst="rect">
            <a:avLst>
              <a:gd name="adj" fmla="val 15789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179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③ 干预 (Intervention)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1554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在后层残差流上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施加插值/阻尼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看模型是否「恢复」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900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四个评估指标——用通俗语言解释：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01568"/>
            <a:ext cx="1920240" cy="274320"/>
          </a:xfrm>
          <a:prstGeom prst="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立场漂移 (drift)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模型立场偏了多少？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越低越好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0" y="3401568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0" y="3401568"/>
            <a:ext cx="192024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服从率 (compliance)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33472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模型多大程度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顺从了压力？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越低越好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401568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3401568"/>
            <a:ext cx="1920240" cy="27432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恢复率 (recovery)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36592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干预后模型能否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「回到自己」？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越高越好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66560" y="3401568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766560" y="3401568"/>
            <a:ext cx="1920240" cy="274320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6812280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基线损伤 (damage)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39712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干预是否误伤了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正常回答能力？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越低越好</a:t>
            </a:r>
            <a:endParaRPr lang="en-US" sz="85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两种指标体系：为什么不能混着比？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Objective-local proxy vs. Bridge causal metrics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方法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就像「体温计」和「血常规」都能反映健康状况，但不能直接放在一起排名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097280"/>
            <a:ext cx="45720" cy="2194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70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Objective-local Proxy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（用于 Qwen 主线）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类比：体温计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在固定的选择题子集上测量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有明确的「正确答案」和
  「压力诱导的错误答案」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精确但范围有限
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Qwen 7B/3B 的主结果用这个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指标体系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097280"/>
            <a:ext cx="45720" cy="2194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70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Causal Metrics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417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（用于跨模型迁移）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6459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类比：血常规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在跨场景的开放式问题上测量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没有「标准答案」，需要
  成对比较 baseline vs pressured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覆盖面广但噪声更大
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Qwen 14B / GLM / Llama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的迁移结果用这个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11480"/>
          </a:xfrm>
          <a:prstGeom prst="roundRect">
            <a:avLst>
              <a:gd name="adj" fmla="val 8889"/>
            </a:avLst>
          </a:prstGeom>
          <a:solidFill>
            <a:srgbClr val="FDEDE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93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两种指标体系不能合并为单一排行榜——就像不能把体温 38°C 和白细胞计数 12000 放在一起排名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核心机制图谱：两条不同的路径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Map — our central finding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发现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信念压力走「漂移→干预→修正」路径；身份压力走「可定位但不可控」路径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097280"/>
            <a:ext cx="3840480" cy="347472"/>
          </a:xfrm>
          <a:prstGeom prst="rect">
            <a:avLst>
              <a:gd name="adj" fmla="val 18421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33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A：信念压力 → 可部分修正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153619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E67E22">
              <a:alpha val="8000"/>
            </a:srgbClr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536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用户施加信念压力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15361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「很多哲学家认为 X」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192024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203911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C0392B">
              <a:alpha val="8000"/>
            </a:srgbClr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039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后层残差流偏移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203911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河流被「推歪」了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77440" y="242316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254203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2980B9">
              <a:alpha val="8000"/>
            </a:srgbClr>
          </a:solidFill>
          <a:ln w="1016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5420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偏移方向可检测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用投影找到偏了多少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77440" y="292608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" y="304495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16A085">
              <a:alpha val="8000"/>
            </a:srgbClr>
          </a:solidFill>
          <a:ln w="1016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干预：插值/阻尼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0" y="30449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把状态往回「拉」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0" y="342900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4360" y="354787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27AE60">
              <a:alpha val="8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行为改善 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354787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drift↓ compliance↑ recovery↑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109728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097280"/>
            <a:ext cx="3840480" cy="347472"/>
          </a:xfrm>
          <a:prstGeom prst="rect">
            <a:avLst>
              <a:gd name="adj" fmla="val 18421"/>
            </a:avLst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133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 B：身份压力 → 可定位但不可控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83480" y="153619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E67E22">
              <a:alpha val="8000"/>
            </a:srgbClr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1536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用户施加身份框架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32320" y="15361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「作为一名保守派」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66560" y="192024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983480" y="203911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2980B9">
              <a:alpha val="8000"/>
            </a:srgbClr>
          </a:solidFill>
          <a:ln w="10160">
            <a:solidFill>
              <a:srgbClr val="2980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2039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存在弱局部化信号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0" y="203911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能「感觉到」有变化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242316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983480" y="254203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C0392B">
              <a:alpha val="8000"/>
            </a:srgbClr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25420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干预无法分离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0" y="254203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拉不动 / 拉了也分不清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66560" y="292608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983480" y="304495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C0392B">
              <a:alpha val="8000"/>
            </a:srgbClr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与控制组无差异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32320" y="30449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controls 不分离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66560" y="3429000"/>
            <a:ext cx="0" cy="11887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983480" y="3547872"/>
            <a:ext cx="3566160" cy="384048"/>
          </a:xfrm>
          <a:prstGeom prst="roundRect">
            <a:avLst>
              <a:gd name="adj" fmla="val 9524"/>
            </a:avLst>
          </a:prstGeom>
          <a:solidFill>
            <a:srgbClr val="E67E22">
              <a:alpha val="8000"/>
            </a:srgbClr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47488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结论：边界案例 ✗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2320" y="354787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不能用同一方法修正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420624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DEDEC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42245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关键区分：能找到方向 (localization) ≠ 能用它改变行为 (controllability)</a:t>
            </a:r>
            <a:endParaRPr lang="en-US" sz="1050" dirty="0"/>
          </a:p>
        </p:txBody>
      </p:sp>
      <p:sp>
        <p:nvSpPr>
          <p:cNvPr id="5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最强证据：Qwen 主线结果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Belief-pressure damping works in Qwen 7B &amp; 3B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发现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objective-local proxy 上：立场漂移↓ 服从率↓ 恢复率↑ 基线损伤≈0</a:t>
            </a:r>
            <a:endParaRPr lang="en-US" sz="800" dirty="0"/>
          </a:p>
        </p:txBody>
      </p:sp>
      <p:pic>
        <p:nvPicPr>
          <p:cNvPr id="10" name="Image 0" descr="/sessions/69efa62a183225aa0c539baf/work/ppt_assets/figure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4846320" cy="2670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66360" y="1051560"/>
            <a:ext cx="3520440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276088" y="11064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数据解读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76088" y="13441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7B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276088" y="15270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立场漂移 −0.149  服从率 −0.160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恢复率 +0.713  基线损伤 = 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39512" y="1965960"/>
            <a:ext cx="3337560" cy="731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088" y="20391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276088" y="22219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立场漂移 −0.160  服从率 −0.279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恢复率 +0.691  基线损伤 = 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39512" y="2679192"/>
            <a:ext cx="3337560" cy="731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9" name="Text 16"/>
          <p:cNvSpPr/>
          <p:nvPr/>
        </p:nvSpPr>
        <p:spPr>
          <a:xfrm>
            <a:off x="5276088" y="274320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通俗解读：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276088" y="29077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「被带偏程度」减少约 15%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「顺从压力」降低 16-28%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「回到自己」提升约 70%
</a:t>
            </a:r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正常回答能力未受损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8587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以上为 objective-local proxy（体温计），不等同于 bridge-causal leaderboard（血常规）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为什么信任这个结果？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controls that rule out alternative explanations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发现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三项控制实验排除了「碰巧」和「假象」的可能，但未构成完整因果证明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155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可能的质疑：「你不过是随便改了改激活值，碰巧看起来有效」→ 我们逐一回应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2606040" cy="320040"/>
          </a:xfrm>
          <a:prstGeom prst="rect">
            <a:avLst>
              <a:gd name="adj" fmla="val 17143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66420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随机方向控制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810512"/>
            <a:ext cx="24688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Direction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30352" y="2029968"/>
            <a:ext cx="2468880" cy="320040"/>
          </a:xfrm>
          <a:prstGeom prst="roundRect">
            <a:avLst>
              <a:gd name="adj" fmla="val 8571"/>
            </a:avLst>
          </a:prstGeom>
          <a:solidFill>
            <a:srgbClr val="F4ECF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04825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类比：随便调收音机旋钮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立场漂移 ≈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恢复率 ≈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090672"/>
            <a:ext cx="2468880" cy="731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不是随便改改就有效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64592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45920"/>
            <a:ext cx="2606040" cy="320040"/>
          </a:xfrm>
          <a:prstGeom prst="rect">
            <a:avLst>
              <a:gd name="adj" fmla="val 17143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166420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打乱标签控制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1810512"/>
            <a:ext cx="24688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Label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19272" y="2029968"/>
            <a:ext cx="2468880" cy="320040"/>
          </a:xfrm>
          <a:prstGeom prst="roundRect">
            <a:avLst>
              <a:gd name="adj" fmla="val 8571"/>
            </a:avLst>
          </a:prstGeom>
          <a:solidFill>
            <a:srgbClr val="F4ECF7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04825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类比：把药方上的药名打乱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基线损伤 = 58%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（严重误伤）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3090672"/>
            <a:ext cx="2468880" cy="731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不是配对数据的假象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64592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645920"/>
            <a:ext cx="2606040" cy="320040"/>
          </a:xfrm>
          <a:prstGeom prst="rect">
            <a:avLst>
              <a:gd name="adj" fmla="val 17143"/>
            </a:avLst>
          </a:prstGeom>
          <a:solidFill>
            <a:srgbClr val="2980B9"/>
          </a:solidFill>
          <a:ln/>
        </p:spPr>
      </p:sp>
      <p:sp>
        <p:nvSpPr>
          <p:cNvPr id="32" name="Text 30"/>
          <p:cNvSpPr/>
          <p:nvPr/>
        </p:nvSpPr>
        <p:spPr>
          <a:xfrm>
            <a:off x="6108192" y="166420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留出集验证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08192" y="1810512"/>
            <a:ext cx="24688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08192" y="2029968"/>
            <a:ext cx="2468880" cy="320040"/>
          </a:xfrm>
          <a:prstGeom prst="roundRect">
            <a:avLst>
              <a:gd name="adj" fmla="val 8571"/>
            </a:avLst>
          </a:prstGeom>
          <a:solidFill>
            <a:srgbClr val="F4ECF7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204825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类比：用没见过的考试题验证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44768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方向保持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损伤 = 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08192" y="3090672"/>
            <a:ext cx="2468880" cy="731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不是只对训练题有效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88620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EF9E7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044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加强了对结果的信心，但未构成完整的因果证明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跨模型检验：方向可迁移，但效果有界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belief-damping direction transfers, but quality varies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边界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就像一种药在不同病人身上效果不同——方向对了，但剂量和副作用需要调整</a:t>
            </a:r>
            <a:endParaRPr lang="en-US" sz="800" dirty="0"/>
          </a:p>
        </p:txBody>
      </p:sp>
      <p:pic>
        <p:nvPicPr>
          <p:cNvPr id="10" name="Image 0" descr="/sessions/69efa62a183225aa0c539baf/work/ppt_assets/figure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4297680" cy="1993392"/>
          </a:xfrm>
          <a:prstGeom prst="rect">
            <a:avLst/>
          </a:prstGeom>
        </p:spPr>
      </p:pic>
      <p:pic>
        <p:nvPicPr>
          <p:cNvPr id="11" name="Image 1" descr="/sessions/69efa62a183225aa0c539baf/work/ppt_assets/figure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51560"/>
            <a:ext cx="4297680" cy="19933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20040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3200400"/>
            <a:ext cx="45720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323697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14B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" y="34381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二级确认：方向一致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但样本更小，恢复率=0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46120" y="320040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3246120" y="3200400"/>
            <a:ext cx="4572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4"/>
          <p:cNvSpPr/>
          <p:nvPr/>
        </p:nvSpPr>
        <p:spPr>
          <a:xfrm>
            <a:off x="3355848" y="323697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GLM-4-9B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55848" y="34381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跨族 + 高损伤：漂移↓ 服从↓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但基线损伤=33% ✗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035040" y="320040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6035040" y="3200400"/>
            <a:ext cx="4572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8"/>
          <p:cNvSpPr/>
          <p:nvPr/>
        </p:nvSpPr>
        <p:spPr>
          <a:xfrm>
            <a:off x="6144768" y="323697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44768" y="34381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可定位但不可控：能找到方向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但服从率不变 ✗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损伤=25% ✗</a:t>
            </a:r>
            <a:endParaRPr lang="en-US" sz="8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教给我们的关键一课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≠ Controllability — the most important limitation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边界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找到污染源 ≠ 能净化水质——Llama 是本文最重要的限制性案例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30352" y="1143000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为什么 Llama 是最重要的案例？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344168"/>
            <a:ext cx="80832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告诉我们一个反直觉的事实：即使你能精确找到「被压力扭曲的方向」（定位成功），也不意味着你能用这个方向来改善行为（控制失败）。这就像你用 GPS 精确找到了污染源的位置，但手头没有合适的净化设备。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AFAF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28800"/>
            <a:ext cx="3840480" cy="292608"/>
          </a:xfrm>
          <a:prstGeom prst="rect">
            <a:avLst>
              <a:gd name="adj" fmla="val 1875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562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定位成功 (Localization)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1945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的信念压力方向确实可检测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投影分析显示 pressured 状态偏离 baseline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我们「找到了」问题出在哪里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DED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828800"/>
            <a:ext cx="3840480" cy="292608"/>
          </a:xfrm>
          <a:prstGeom prst="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562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控制失败 (Controllability)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21945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但干预后：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服从率没有下降（压力行为没改善）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恢复率反而下降了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基线损伤高达 25%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找到了方向，但用不了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这个区分是本文最重要的概念贡献之一：在未来的干预研究中，必须同时报告定位和控制的结果</a:t>
            </a:r>
            <a:endParaRPr lang="en-US" sz="105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身份/画像压力：机制分离的关键反例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Identity/profile as the boundary that sharpens the claim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边界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如果两种压力是同一机制，identity 干预也应该成功——但没有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411480"/>
          </a:xfrm>
          <a:prstGeom prst="roundRect">
            <a:avLst>
              <a:gd name="adj" fmla="val 8889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反事实推理：如果信念压力和身份压力是「同一种病」，那么同一种「药」应该对两者都有效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91640"/>
            <a:ext cx="45720" cy="1645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观察到的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03911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存在弱局部化信号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prefix localization 可检测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 belief pressure 共享部分
  表层行为特征
</a:t>
            </a:r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就像发烧时确实能测到体温升高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691640"/>
            <a:ext cx="45720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未观察到的 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03911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干预无法与 matched controls 分离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 exhibit 同样的 steerability
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不支持 identity-specific mitigation
</a:t>
            </a:r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但退烧药对这个「病因」无效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EAFAF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387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这反而强化了核心论点：不同类型的压力确实遵循不同的内部路径</a:t>
            </a:r>
            <a:endParaRPr lang="en-US" sz="11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人工审计：自动化指标可信吗？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Audit: do the numbers match what humans see?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验证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立场漂移和服从率与人类判断高度一致；恢复率是最弱环节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位标注者 × 108 样本（非盲评），定位为「弱人工佐证」而非「正式验证」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297680" cy="164592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与人类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一致率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立场漂移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高度可信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服从率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高度可信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恢复率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最弱环节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基线损伤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可信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029200" y="1554480"/>
            <a:ext cx="3657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专家裁定 (n=24)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1856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针对恢复率分歧最严重的 24 条样本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20640" y="2057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无法判定 (unresolved)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支持人类判断（非 proxy）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4% 支持 proxy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专家裁定强化了边界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而非验证了恢复率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F4ECF7"/>
          </a:solidFill>
          <a:ln w="6350">
            <a:solidFill>
              <a:srgbClr val="8E44AD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48640" y="3410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恢复率的特殊之处：三位标注者之间完全一致（κ=1.00），但与 proxy 一致性低（κ=0.31）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不是「人类自己也不知道怎么评」，而是「proxy 的度量方式在恢复率上与人类直觉差距大」</a:t>
            </a:r>
            <a:endParaRPr lang="en-US" sz="85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60" kern="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总结：这篇工作证明了什么、没证明什么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总结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43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最合理的下一步：将 objective-local 效果更谨慎地连接到开放式行为评估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097280"/>
            <a:ext cx="3840480" cy="320040"/>
          </a:xfrm>
          <a:prstGeom prst="rect">
            <a:avLst>
              <a:gd name="adj" fmla="val 17143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338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证明了什么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1481328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信念压力存在可部分干预的
后层漂移（Qwen 7B/3B）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控制实验排除了伪影解释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留出集验证方向保持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 ≠ 控制（Llama 证实）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机制分离成立：信念与身份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遵循不同内部路径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097280"/>
            <a:ext cx="3840480" cy="320040"/>
          </a:xfrm>
          <a:prstGeom prst="rect">
            <a:avLst>
              <a:gd name="adj" fmla="val 17143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338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没证明什么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1481328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通用压力缓解方案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identity/profile 已解决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干净的跨族复制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正面复制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完整人工验证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部署级缓解方案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5570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74904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proxy 已被专家裁定为最弱环节 → 应将 objective-local 效果更谨慎地连接到开放式行为评估，而非扩大样本量。</a:t>
            </a:r>
            <a:endParaRPr lang="en-US" sz="95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一页回顾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82296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22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822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谄媚行为看起来一样，但内部机制不同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信念压力 → 后层漂移 → 可以部分修正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身份压力 → 可定位但不可控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3317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331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证明：能找到方向 ≠ 能改变行为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320040" cy="32004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834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这不是万能缓解方案，而是机制边界研究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429000"/>
            <a:ext cx="2743200" cy="914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Is Not One Mechanism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谢谢！欢迎提问</a:t>
            </a:r>
            <a:endParaRPr lang="en-US" sz="12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Pressure Is Not One Mechanism - 组会汇报</dc:title>
  <dc:subject>PptxGenJS Presentation</dc:subject>
  <dc:creator>White-box Sycophancy Research</dc:creator>
  <cp:lastModifiedBy>White-box Sycophancy Research</cp:lastModifiedBy>
  <cp:revision>1</cp:revision>
  <dcterms:created xsi:type="dcterms:W3CDTF">2026-04-27T18:24:01Z</dcterms:created>
  <dcterms:modified xsi:type="dcterms:W3CDTF">2026-04-27T18:24:01Z</dcterms:modified>
</cp:coreProperties>
</file>