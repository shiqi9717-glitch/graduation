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1097280" y="1371600"/>
            <a:ext cx="54864" cy="2286000"/>
          </a:xfrm>
          <a:prstGeom prst="rect">
            <a:avLst/>
          </a:prstGeom>
          <a:solidFill>
            <a:srgbClr val="E07A5F"/>
          </a:solidFill>
        </p:spPr>
      </p:sp>
      <p:pic>
        <p:nvPicPr>
          <p:cNvPr id="4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9728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 期 报 告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1600200"/>
            <a:ext cx="6858000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大语言模型多维特质评估框架的设计
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与统计方法分析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基于迎合特质量化与干扰检测的风险排序器研究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5204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答辩人：何宇航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　师：刘秀芹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0" y="1097280"/>
            <a:ext cx="914400" cy="3200400"/>
          </a:xfrm>
          <a:prstGeom prst="rect">
            <a:avLst/>
          </a:prstGeom>
          <a:solidFill>
            <a:srgbClr val="E8EFF5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报告提纲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1371600"/>
            <a:ext cx="640080" cy="64008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7" name="Text 4"/>
          <p:cNvSpPr/>
          <p:nvPr/>
        </p:nvSpPr>
        <p:spPr>
          <a:xfrm>
            <a:off x="1097280" y="1371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011680" y="135331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开题回顾与中期进展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173736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测评实验完成情况与新增研究方向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97280" y="2468880"/>
            <a:ext cx="640080" cy="64008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1" name="Text 8"/>
          <p:cNvSpPr/>
          <p:nvPr/>
        </p:nvSpPr>
        <p:spPr>
          <a:xfrm>
            <a:off x="1097280" y="24688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011680" y="245059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风险排序器：设计与验证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011680" y="28346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标签体系、模型训练、离线模拟与真实复查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97280" y="3566160"/>
            <a:ext cx="640080" cy="640080"/>
          </a:xfrm>
          <a:prstGeom prst="rect">
            <a:avLst/>
          </a:prstGeom>
          <a:solidFill>
            <a:srgbClr val="4A7C59"/>
          </a:solidFill>
        </p:spPr>
      </p:sp>
      <p:sp>
        <p:nvSpPr>
          <p:cNvPr id="15" name="Text 12"/>
          <p:cNvSpPr/>
          <p:nvPr/>
        </p:nvSpPr>
        <p:spPr>
          <a:xfrm>
            <a:off x="1097280" y="3566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011680" y="354787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扩展分析与下一步计划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011680" y="393192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论文初稿撰写</a:t>
            </a:r>
            <a:r>
              <a:rPr lang="en-US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、本地3B</a:t>
            </a:r>
            <a:r>
              <a:rPr lang="zh-CN" altLang="en-US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altLang="zh-CN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7B</a:t>
            </a:r>
            <a:r>
              <a:rPr lang="zh-CN" altLang="en-US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模型后续</a:t>
            </a:r>
            <a:r>
              <a:rPr lang="en-US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2 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开题回顾与中期进展概述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从开题到中期的推进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43000"/>
            <a:ext cx="3931920" cy="347472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8" name="Text 5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开题阶段回顾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137160" cy="137160"/>
          </a:xfrm>
          <a:prstGeom prst="ellipse">
            <a:avLst/>
          </a:prstGeom>
          <a:solidFill>
            <a:srgbClr val="8899AA"/>
          </a:solidFill>
        </p:spPr>
      </p:sp>
      <p:sp>
        <p:nvSpPr>
          <p:cNvPr id="10" name="Text 7"/>
          <p:cNvSpPr/>
          <p:nvPr/>
        </p:nvSpPr>
        <p:spPr>
          <a:xfrm>
            <a:off x="1005840" y="16459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基于CMMLU的五臂扰动实验设计（T0~T3 + 安慰剂）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2194560"/>
            <a:ext cx="137160" cy="137160"/>
          </a:xfrm>
          <a:prstGeom prst="ellipse">
            <a:avLst/>
          </a:prstGeom>
          <a:solidFill>
            <a:srgbClr val="8899AA"/>
          </a:solidFill>
        </p:spPr>
      </p:sp>
      <p:sp>
        <p:nvSpPr>
          <p:cNvPr id="12" name="Text 9"/>
          <p:cNvSpPr/>
          <p:nvPr/>
        </p:nvSpPr>
        <p:spPr>
          <a:xfrm>
            <a:off x="1005840" y="21488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核心方法：蒙特卡洛采样 + GLM + FDR校正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2697480"/>
            <a:ext cx="137160" cy="137160"/>
          </a:xfrm>
          <a:prstGeom prst="ellipse">
            <a:avLst/>
          </a:prstGeom>
          <a:solidFill>
            <a:srgbClr val="8899AA"/>
          </a:solidFill>
        </p:spPr>
      </p:sp>
      <p:sp>
        <p:nvSpPr>
          <p:cNvPr id="14" name="Text 11"/>
          <p:cNvSpPr/>
          <p:nvPr/>
        </p:nvSpPr>
        <p:spPr>
          <a:xfrm>
            <a:off x="1005840" y="26517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研究问题：迎合特质普遍性、剂量-效应关系、安慰剂控制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3440" y="11887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中期新增进展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160020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600200"/>
            <a:ext cx="54864" cy="914400"/>
          </a:xfrm>
          <a:prstGeom prst="rect">
            <a:avLst/>
          </a:prstGeom>
          <a:solidFill>
            <a:srgbClr val="4A7C59"/>
          </a:solidFill>
        </p:spPr>
      </p:sp>
      <p:sp>
        <p:nvSpPr>
          <p:cNvPr id="18" name="Text 15"/>
          <p:cNvSpPr/>
          <p:nvPr/>
        </p:nvSpPr>
        <p:spPr>
          <a:xfrm>
            <a:off x="4846320" y="17099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测评实验已完成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46320" y="199390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7个中文模型 x 500题 x 5条件，</a:t>
            </a:r>
            <a:r>
              <a:rPr lang="zh-CN" alt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聚类稳健</a:t>
            </a:r>
            <a:r>
              <a:rPr lang="zh-CN" alt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标准差的二项逻辑回归</a:t>
            </a:r>
            <a:r>
              <a:rPr 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确认压力主效应 beta=0.560</a:t>
            </a:r>
            <a:r>
              <a:rPr lang="zh-CN" alt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。即压力等级每增加</a:t>
            </a:r>
            <a:r>
              <a:rPr lang="en-US" altLang="zh-CN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1 </a:t>
            </a:r>
            <a:r>
              <a:rPr lang="zh-CN" alt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个单位，模型发生迎合行为的对数</a:t>
            </a:r>
            <a:r>
              <a:rPr lang="zh-CN" alt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概率增加</a:t>
            </a:r>
            <a:r>
              <a:rPr lang="en-US" altLang="zh-CN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0.560</a:t>
            </a:r>
            <a:r>
              <a:rPr lang="zh-CN" alt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zh-CN" altLang="en-US" sz="1050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63440" y="265176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2651760"/>
            <a:ext cx="54864" cy="91440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22" name="Text 19"/>
          <p:cNvSpPr/>
          <p:nvPr/>
        </p:nvSpPr>
        <p:spPr>
          <a:xfrm>
            <a:off x="4846320" y="276148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新增研究方向：风险排序器（Risk Ranker）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46320" y="3108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以极小API预算实现选择性复查，降低错误跟随率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63440" y="3703320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63440" y="3703320"/>
            <a:ext cx="54864" cy="822960"/>
          </a:xfrm>
          <a:prstGeom prst="rect">
            <a:avLst/>
          </a:prstGeom>
          <a:solidFill>
            <a:srgbClr val="3D5A80"/>
          </a:solidFill>
        </p:spPr>
      </p:sp>
      <p:sp>
        <p:nvSpPr>
          <p:cNvPr id="26" name="Text 23"/>
          <p:cNvSpPr/>
          <p:nvPr/>
        </p:nvSpPr>
        <p:spPr>
          <a:xfrm>
            <a:off x="4846320" y="381304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扩展实验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6320" y="41605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人类专家盲评（3人x60样本）、Qwen2.5-3B本地机制探针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3 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检测器设计：标签体系与特征工程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从测评结果到可训练标签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48640" y="3520440"/>
            <a:ext cx="2560320" cy="77724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9" name="Text 5"/>
          <p:cNvSpPr/>
          <p:nvPr/>
        </p:nvSpPr>
        <p:spPr>
          <a:xfrm>
            <a:off x="548640" y="35478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951 / 43,340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38404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strict标签</a:t>
            </a:r>
            <a:r>
              <a:rPr lang="zh-CN" alt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：确信这些样本是真正的迎合行为</a:t>
            </a:r>
            <a:endParaRPr lang="zh-CN" altLang="en-US" sz="1000" dirty="0">
              <a:solidFill>
                <a:srgbClr val="8899A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48640" y="402336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正例比例 2.19%</a:t>
            </a:r>
            <a:endParaRPr lang="en-US" sz="1000" i="1" dirty="0">
              <a:solidFill>
                <a:srgbClr val="8899A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383280" y="3520440"/>
            <a:ext cx="2560320" cy="77724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3" name="Text 9"/>
          <p:cNvSpPr/>
          <p:nvPr/>
        </p:nvSpPr>
        <p:spPr>
          <a:xfrm>
            <a:off x="3383280" y="35478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1,250 / 44,845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38404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relaxed标签</a:t>
            </a:r>
            <a:endParaRPr lang="en-US" sz="1200" dirty="0">
              <a:solidFill>
                <a:srgbClr val="8899A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383280" y="402336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正例比例 2.79%</a:t>
            </a:r>
            <a:endParaRPr lang="en-US" sz="1000" i="1" dirty="0">
              <a:solidFill>
                <a:srgbClr val="8899A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217920" y="3520440"/>
            <a:ext cx="2560320" cy="77724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7" name="Text 13"/>
          <p:cNvSpPr/>
          <p:nvPr/>
        </p:nvSpPr>
        <p:spPr>
          <a:xfrm>
            <a:off x="6217920" y="35478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7个模型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217920" y="38404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模型覆盖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217920" y="402336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训练/开发/测试 72%/15%/13%</a:t>
            </a:r>
            <a:endParaRPr lang="en-US" sz="1000" i="1" dirty="0">
              <a:solidFill>
                <a:srgbClr val="8899A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21" name="Text 17"/>
          <p:cNvSpPr/>
          <p:nvPr/>
        </p:nvSpPr>
        <p:spPr>
          <a:xfrm>
            <a:off x="731520" y="4453128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迎合</a:t>
            </a:r>
            <a:r>
              <a:rPr lang="en-US" sz="1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特征工程：句子嵌入 + TF-IDF + 结构化特征 |  主线方案：</a:t>
            </a:r>
            <a:r>
              <a:rPr lang="zh-CN" altLang="en-US" sz="1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句子嵌入</a:t>
            </a:r>
            <a:r>
              <a:rPr lang="en-US" sz="1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+ strict标签</a:t>
            </a:r>
            <a:endParaRPr lang="en-US" sz="1400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4 页</a:t>
            </a:r>
            <a:endParaRPr lang="en-US" sz="900" dirty="0"/>
          </a:p>
        </p:txBody>
      </p:sp>
      <p:pic>
        <p:nvPicPr>
          <p:cNvPr id="23" name="图片 22" descr="positive_only_orange_bar_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61085"/>
            <a:ext cx="3553460" cy="225044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635" y="1064895"/>
            <a:ext cx="3552190" cy="2159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检测器模型对比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多模型多标签方案性能评估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pic>
        <p:nvPicPr>
          <p:cNvPr id="7" name="Image 1" descr="/sessions/69de00cb0ae88d487dc8c3e2/workspace/assets/detector_comparison_2400x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977640"/>
            <a:ext cx="2560320" cy="77724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9" name="Text 5"/>
          <p:cNvSpPr/>
          <p:nvPr/>
        </p:nvSpPr>
        <p:spPr>
          <a:xfrm>
            <a:off x="640080" y="400507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ROC-AUC = 0.677：弱排序信号高于随机，适合作为风险排序器而非二分类器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83280" y="3977640"/>
            <a:ext cx="2560320" cy="77724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1" name="Text 7"/>
          <p:cNvSpPr/>
          <p:nvPr/>
        </p:nvSpPr>
        <p:spPr>
          <a:xfrm>
            <a:off x="3474720" y="400507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主线方案：sentence-embedding-logreg + strict标签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3977640"/>
            <a:ext cx="2560320" cy="77724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3" name="Text 9"/>
          <p:cNvSpPr/>
          <p:nvPr/>
        </p:nvSpPr>
        <p:spPr>
          <a:xfrm>
            <a:off x="6328410" y="410337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预算匹配触发</a:t>
            </a:r>
            <a:r>
              <a:rPr lang="en-US" sz="14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阈值 = 0.55</a:t>
            </a:r>
            <a:endParaRPr lang="en-US" sz="14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5 页</a:t>
            </a:r>
            <a:endParaRPr lang="en-US" sz="9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755" y="1106170"/>
            <a:ext cx="4352925" cy="2621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t="6994" r="56898"/>
          <a:stretch>
            <a:fillRect/>
          </a:stretch>
        </p:blipFill>
        <p:spPr>
          <a:xfrm>
            <a:off x="541655" y="1053465"/>
            <a:ext cx="3938270" cy="2967355"/>
          </a:xfrm>
          <a:prstGeom prst="rect">
            <a:avLst/>
          </a:prstGeom>
        </p:spPr>
      </p:pic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离线选择性复查模拟结果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固定预算下的风险排序器效果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48640" y="3794760"/>
            <a:ext cx="182880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9" name="Text 5"/>
          <p:cNvSpPr/>
          <p:nvPr/>
        </p:nvSpPr>
        <p:spPr>
          <a:xfrm>
            <a:off x="548640" y="38221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0.82% → 0.18%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错误跟随率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4343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降低78%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51760" y="3794760"/>
            <a:ext cx="182880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3" name="Text 9"/>
          <p:cNvSpPr/>
          <p:nvPr/>
        </p:nvSpPr>
        <p:spPr>
          <a:xfrm>
            <a:off x="2651760" y="38221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仅6.03%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5176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触发预算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651760" y="4343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极小API开销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3794760"/>
            <a:ext cx="182880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7" name="Text 13"/>
          <p:cNvSpPr/>
          <p:nvPr/>
        </p:nvSpPr>
        <p:spPr>
          <a:xfrm>
            <a:off x="4754880" y="38221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99.18% → 99.82%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5488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0" y="4343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净提升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858000" y="3794760"/>
            <a:ext cx="182880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21" name="Text 17"/>
          <p:cNvSpPr/>
          <p:nvPr/>
        </p:nvSpPr>
        <p:spPr>
          <a:xfrm>
            <a:off x="6858000" y="38221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77.91%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85800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严格正例召回率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858000" y="4343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高召回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6 页</a:t>
            </a:r>
            <a:endParaRPr lang="en-US" sz="9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48945" t="10590" b="6222"/>
          <a:stretch>
            <a:fillRect/>
          </a:stretch>
        </p:blipFill>
        <p:spPr>
          <a:xfrm>
            <a:off x="4754245" y="1156335"/>
            <a:ext cx="3772535" cy="2629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真实同模型复查实验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从离线模拟到真实部署验证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pic>
        <p:nvPicPr>
          <p:cNvPr id="7" name="Image 1" descr="/sessions/69de00cb0ae88d487dc8c3e2/workspace/assets/recheck_by_model_1800x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572000" cy="2560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0" y="1097280"/>
            <a:ext cx="3657600" cy="256032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9" name="Text 5"/>
          <p:cNvSpPr/>
          <p:nvPr/>
        </p:nvSpPr>
        <p:spPr>
          <a:xfrm>
            <a:off x="5212080" y="1188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120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040880" y="11887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样本数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212080" y="144475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触发: 81 (67.5%)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212080" y="16642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67.5%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40880" y="16642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原始准确率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12080" y="21396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79.2%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40880" y="21396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复查后准确率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212080" y="23957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 11.7 个百分点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212080" y="26151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32.5% → 16.7%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040880" y="26151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迎合率</a:t>
            </a:r>
            <a:endParaRPr lang="zh-CN" altLang="en-US" sz="1000" dirty="0">
              <a:solidFill>
                <a:srgbClr val="8899A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212080" y="2871216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 59%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212080" y="30906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48.15%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040880" y="30906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答案改写率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212080" y="3346704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改对: 32.10% | 改坏: 16.05%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48640" y="3840480"/>
            <a:ext cx="8046720" cy="868680"/>
          </a:xfrm>
          <a:prstGeom prst="rect">
            <a:avLst/>
          </a:prstGeom>
          <a:solidFill>
            <a:srgbClr val="FFF5F0"/>
          </a:solidFill>
        </p:spPr>
      </p:sp>
      <p:sp>
        <p:nvSpPr>
          <p:cNvPr id="24" name="Shape 20"/>
          <p:cNvSpPr/>
          <p:nvPr/>
        </p:nvSpPr>
        <p:spPr>
          <a:xfrm>
            <a:off x="548640" y="3840480"/>
            <a:ext cx="54864" cy="86868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25" name="Text 21"/>
          <p:cNvSpPr/>
          <p:nvPr/>
        </p:nvSpPr>
        <p:spPr>
          <a:xfrm>
            <a:off x="777240" y="3886200"/>
            <a:ext cx="75895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注意：检测到反向伤害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DeepSeek-Reasoner出现反向伤害（100%→50%）。同模型复查存在过度纠正的固有风险。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7 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人类专家盲评结果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三位独立标注者对60个样本的迎合行为判定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pic>
        <p:nvPicPr>
          <p:cNvPr id="7" name="Image 1" descr="/sessions/69de00cb0ae88d487dc8c3e2/workspace/assets/human_expert_agreement_2400x900.png"/>
          <p:cNvPicPr>
            <a:picLocks noChangeAspect="1"/>
          </p:cNvPicPr>
          <p:nvPr/>
        </p:nvPicPr>
        <p:blipFill>
          <a:blip r:embed="rId2"/>
          <a:srcRect b="7813"/>
          <a:stretch>
            <a:fillRect/>
          </a:stretch>
        </p:blipFill>
        <p:spPr>
          <a:xfrm>
            <a:off x="274320" y="1097280"/>
            <a:ext cx="8595360" cy="268033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794760"/>
            <a:ext cx="182880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9" name="Text 5"/>
          <p:cNvSpPr/>
          <p:nvPr/>
        </p:nvSpPr>
        <p:spPr>
          <a:xfrm>
            <a:off x="548640" y="38221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50~53%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T1 迎合确认率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4343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三位专家高度一致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651760" y="3794760"/>
            <a:ext cx="182880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3" name="Text 9"/>
          <p:cNvSpPr/>
          <p:nvPr/>
        </p:nvSpPr>
        <p:spPr>
          <a:xfrm>
            <a:off x="2651760" y="38221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50.0%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5176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三人完全一致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651760" y="4343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30/60 样本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54880" y="3794760"/>
            <a:ext cx="182880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7" name="Text 13"/>
          <p:cNvSpPr/>
          <p:nvPr/>
        </p:nvSpPr>
        <p:spPr>
          <a:xfrm>
            <a:off x="4754880" y="38221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全部T1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5488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一致时标签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0" y="4343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 确认迎合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858000" y="3794760"/>
            <a:ext cx="182880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23" name="Text 19"/>
          <p:cNvSpPr/>
          <p:nvPr/>
        </p:nvSpPr>
        <p:spPr>
          <a:xfrm>
            <a:off x="6893560" y="4058920"/>
            <a:ext cx="1828800" cy="75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200" b="1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分歧主要在于非迎合样本的分类——专家1 更保守，标了很多'不确定'，而专家2/3 把这些标为'能力不足'。</a:t>
            </a:r>
            <a:endParaRPr lang="en-US" sz="1200" b="1" dirty="0">
              <a:solidFill>
                <a:srgbClr val="8899A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buNone/>
            </a:pPr>
            <a:endParaRPr lang="en-US" altLang="zh-CN" sz="1200" b="1" dirty="0"/>
          </a:p>
          <a:p>
            <a:pPr marL="0" indent="0" algn="ctr">
              <a:buNone/>
            </a:pPr>
            <a:endParaRPr lang="en-US" altLang="zh-CN" sz="1200" b="1" dirty="0"/>
          </a:p>
        </p:txBody>
      </p:sp>
      <p:sp>
        <p:nvSpPr>
          <p:cNvPr id="24" name="Text 20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8 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Qwen2.5-3B 本地机制分析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可解释性探针揭示迎合行为的内部机制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48640" y="3794760"/>
            <a:ext cx="256032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9" name="Shape 5"/>
          <p:cNvSpPr/>
          <p:nvPr/>
        </p:nvSpPr>
        <p:spPr>
          <a:xfrm>
            <a:off x="548640" y="3794760"/>
            <a:ext cx="54864" cy="91440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10" name="Text 6"/>
          <p:cNvSpPr/>
          <p:nvPr/>
        </p:nvSpPr>
        <p:spPr>
          <a:xfrm>
            <a:off x="685800" y="384048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strict_positive :</a:t>
            </a:r>
            <a:r>
              <a:rPr lang="zh-CN" altLang="en-US" sz="1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可靠的迎合样本</a:t>
            </a:r>
            <a:endParaRPr lang="zh-CN" altLang="en-US" sz="1200" b="1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altLang="zh-CN" sz="1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high_pressure </a:t>
            </a:r>
            <a:r>
              <a:rPr lang="zh-CN" altLang="en-US" sz="1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高压力条件下的样本</a:t>
            </a:r>
            <a:endParaRPr lang="zh-CN" altLang="en-US" sz="1200" b="1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altLang="zh-CN" sz="1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hard_negative </a:t>
            </a:r>
            <a:r>
              <a:rPr lang="zh-CN" altLang="en-US" sz="1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需要仔细区分的边界样本</a:t>
            </a:r>
            <a:endParaRPr lang="zh-CN" altLang="en-US" sz="1200" b="1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383280" y="3794760"/>
            <a:ext cx="256032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2" name="Shape 8"/>
          <p:cNvSpPr/>
          <p:nvPr/>
        </p:nvSpPr>
        <p:spPr>
          <a:xfrm>
            <a:off x="3383280" y="3794760"/>
            <a:ext cx="54864" cy="91440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3" name="Text 9"/>
          <p:cNvSpPr/>
          <p:nvPr/>
        </p:nvSpPr>
        <p:spPr>
          <a:xfrm>
            <a:off x="3520440" y="384048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边距坍塌集中在 Layers 31-35（后14%层），Layer 33 最严重（-9.915）</a:t>
            </a:r>
            <a:endParaRPr lang="en-US" sz="1400" b="1" dirty="0">
              <a:solidFill>
                <a:srgbClr val="E07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17920" y="3794760"/>
            <a:ext cx="256032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5" name="Shape 11"/>
          <p:cNvSpPr/>
          <p:nvPr/>
        </p:nvSpPr>
        <p:spPr>
          <a:xfrm>
            <a:off x="6217920" y="3794760"/>
            <a:ext cx="54864" cy="914400"/>
          </a:xfrm>
          <a:prstGeom prst="rect">
            <a:avLst/>
          </a:prstGeom>
          <a:solidFill>
            <a:srgbClr val="4A7C59"/>
          </a:solidFill>
        </p:spPr>
      </p:sp>
      <p:sp>
        <p:nvSpPr>
          <p:cNvPr id="16" name="Text 12"/>
          <p:cNvSpPr/>
          <p:nvPr/>
        </p:nvSpPr>
        <p:spPr>
          <a:xfrm>
            <a:off x="6355080" y="384048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内部信号预测器：内部特征在</a:t>
            </a:r>
            <a:r>
              <a:rPr lang="en-US" altLang="zh-CN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3B </a:t>
            </a:r>
            <a:r>
              <a:rPr lang="zh-CN" altLang="en-US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上接近随机（</a:t>
            </a:r>
            <a:r>
              <a:rPr lang="en-US" altLang="zh-CN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0.577</a:t>
            </a:r>
            <a:r>
              <a:rPr lang="zh-CN" altLang="en-US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），</a:t>
            </a:r>
            <a:r>
              <a:rPr lang="en-US" altLang="zh-CN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7B </a:t>
            </a:r>
            <a:r>
              <a:rPr lang="zh-CN" altLang="en-US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稍好（</a:t>
            </a:r>
            <a:r>
              <a:rPr lang="en-US" altLang="zh-CN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0.809</a:t>
            </a:r>
            <a:r>
              <a:rPr lang="zh-CN" altLang="en-US" sz="13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zh-CN" altLang="en-US" sz="1300" b="1" dirty="0">
              <a:solidFill>
                <a:srgbClr val="4A7C5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9 页</a:t>
            </a:r>
            <a:endParaRPr lang="en-US" sz="9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 t="12618"/>
          <a:stretch>
            <a:fillRect/>
          </a:stretch>
        </p:blipFill>
        <p:spPr>
          <a:xfrm>
            <a:off x="548640" y="1007745"/>
            <a:ext cx="7690485" cy="2767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核心发现与讨论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主要发现总结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43000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143000"/>
            <a:ext cx="54864" cy="160020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9" name="Shape 6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10" name="Text 7"/>
          <p:cNvSpPr/>
          <p:nvPr/>
        </p:nvSpPr>
        <p:spPr>
          <a:xfrm>
            <a:off x="731520" y="1280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12344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迎合效应剂量-效应关系确认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164592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准确率随压力单调递减、迎合率随压力单调递增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0" y="1143000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1143000"/>
            <a:ext cx="54864" cy="160020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5" name="Shape 12"/>
          <p:cNvSpPr/>
          <p:nvPr/>
        </p:nvSpPr>
        <p:spPr>
          <a:xfrm>
            <a:off x="3566160" y="1280160"/>
            <a:ext cx="320040" cy="320040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16" name="Text 13"/>
          <p:cNvSpPr/>
          <p:nvPr/>
        </p:nvSpPr>
        <p:spPr>
          <a:xfrm>
            <a:off x="3566160" y="1280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77640" y="12344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风险排序器提供弱但有效的排序信号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66160" y="164592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ROC-AUC = 0.677，可有效识别高风险样本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1143000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1143000"/>
            <a:ext cx="54864" cy="1600200"/>
          </a:xfrm>
          <a:prstGeom prst="rect">
            <a:avLst/>
          </a:prstGeom>
          <a:solidFill>
            <a:srgbClr val="4A7C59"/>
          </a:solidFill>
        </p:spPr>
      </p:sp>
      <p:sp>
        <p:nvSpPr>
          <p:cNvPr id="21" name="Shape 18"/>
          <p:cNvSpPr/>
          <p:nvPr/>
        </p:nvSpPr>
        <p:spPr>
          <a:xfrm>
            <a:off x="6400800" y="1280160"/>
            <a:ext cx="320040" cy="320040"/>
          </a:xfrm>
          <a:prstGeom prst="ellipse">
            <a:avLst/>
          </a:prstGeom>
          <a:solidFill>
            <a:srgbClr val="4A7C59"/>
          </a:solidFill>
        </p:spPr>
      </p:sp>
      <p:sp>
        <p:nvSpPr>
          <p:cNvPr id="22" name="Text 19"/>
          <p:cNvSpPr/>
          <p:nvPr/>
        </p:nvSpPr>
        <p:spPr>
          <a:xfrm>
            <a:off x="6400800" y="1280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12280" y="12344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6%预算降低78%错误跟随率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164592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仅6.03%触发预算即可大幅降低错误跟随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2971800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2971800"/>
            <a:ext cx="54864" cy="1600200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27" name="Shape 24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D4A843"/>
          </a:solidFill>
        </p:spPr>
      </p:sp>
      <p:sp>
        <p:nvSpPr>
          <p:cNvPr id="28" name="Text 25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43000" y="30632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真实复查有净收益但存在反向伤害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" y="347472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准确率+11.7pp，但DeepSeek-Reasoner出现反向伤害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83280" y="2971800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383280" y="2971800"/>
            <a:ext cx="54864" cy="1600200"/>
          </a:xfrm>
          <a:prstGeom prst="rect">
            <a:avLst/>
          </a:prstGeom>
          <a:solidFill>
            <a:srgbClr val="3D5A80"/>
          </a:solidFill>
        </p:spPr>
      </p:sp>
      <p:sp>
        <p:nvSpPr>
          <p:cNvPr id="33" name="Shape 30"/>
          <p:cNvSpPr/>
          <p:nvPr/>
        </p:nvSpPr>
        <p:spPr>
          <a:xfrm>
            <a:off x="3566160" y="3108960"/>
            <a:ext cx="320040" cy="320040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34" name="Text 31"/>
          <p:cNvSpPr/>
          <p:nvPr/>
        </p:nvSpPr>
        <p:spPr>
          <a:xfrm>
            <a:off x="356616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977640" y="30632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人类专家盲评验证迎合真实性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566160" y="347472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三人一致率50%，一致时100%确认为迎合行为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17920" y="2971800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17920" y="2971800"/>
            <a:ext cx="54864" cy="160020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39" name="Shape 36"/>
          <p:cNvSpPr/>
          <p:nvPr/>
        </p:nvSpPr>
        <p:spPr>
          <a:xfrm>
            <a:off x="6400800" y="3108960"/>
            <a:ext cx="320040" cy="32004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40" name="Text 37"/>
          <p:cNvSpPr/>
          <p:nvPr/>
        </p:nvSpPr>
        <p:spPr>
          <a:xfrm>
            <a:off x="640080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812280" y="30632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本地探针揭示内部机制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00800" y="347472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边距坍塌在最后14%层，</a:t>
            </a:r>
            <a:r>
              <a:rPr lang="zh-CN" altLang="en-US" sz="1000" dirty="0"/>
              <a:t>内部特征在</a:t>
            </a:r>
            <a:r>
              <a:rPr lang="en-US" altLang="zh-CN" sz="1000" dirty="0"/>
              <a:t> 3B </a:t>
            </a:r>
            <a:r>
              <a:rPr lang="zh-CN" altLang="en-US" sz="1000" dirty="0"/>
              <a:t>上接近随机（</a:t>
            </a:r>
            <a:r>
              <a:rPr lang="en-US" altLang="zh-CN" sz="1000" dirty="0"/>
              <a:t>0.577</a:t>
            </a:r>
            <a:r>
              <a:rPr lang="zh-CN" altLang="en-US" sz="1000" dirty="0"/>
              <a:t>），</a:t>
            </a:r>
            <a:r>
              <a:rPr lang="en-US" altLang="zh-CN" sz="1000" dirty="0"/>
              <a:t>7B </a:t>
            </a:r>
            <a:r>
              <a:rPr lang="zh-CN" altLang="en-US" sz="1000" dirty="0"/>
              <a:t>稍好（</a:t>
            </a:r>
            <a:r>
              <a:rPr lang="en-US" altLang="zh-CN" sz="1000" dirty="0"/>
              <a:t>0.809</a:t>
            </a:r>
            <a:r>
              <a:rPr lang="zh-CN" altLang="en-US" sz="1000" dirty="0"/>
              <a:t>）</a:t>
            </a:r>
            <a:endParaRPr lang="zh-CN" alt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10 页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后续研究方向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8" name="Shape 5"/>
          <p:cNvSpPr/>
          <p:nvPr/>
        </p:nvSpPr>
        <p:spPr>
          <a:xfrm>
            <a:off x="548640" y="1143000"/>
            <a:ext cx="54864" cy="91440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9" name="Shape 6"/>
          <p:cNvSpPr/>
          <p:nvPr/>
        </p:nvSpPr>
        <p:spPr>
          <a:xfrm>
            <a:off x="777240" y="1252728"/>
            <a:ext cx="457200" cy="27432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0" name="Text 7"/>
          <p:cNvSpPr/>
          <p:nvPr/>
        </p:nvSpPr>
        <p:spPr>
          <a:xfrm>
            <a:off x="777240" y="12527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17320" y="1216152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开始撰写毕业论文</a:t>
            </a:r>
            <a:r>
              <a:rPr lang="en-US" altLang="zh-CN" sz="1400" dirty="0">
                <a:sym typeface="+mn-ea"/>
              </a:rPr>
              <a:t> 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17320" y="155448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1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整理中期实验结果与数据分析，完成论文核心章节（测评实验、检测器设计、机制分析），形成完整的学位论文初稿。</a:t>
            </a:r>
            <a:endParaRPr lang="en-US" sz="1100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14" name="Shape 11"/>
          <p:cNvSpPr/>
          <p:nvPr/>
        </p:nvSpPr>
        <p:spPr>
          <a:xfrm>
            <a:off x="548640" y="2240280"/>
            <a:ext cx="54864" cy="914400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15" name="Shape 12"/>
          <p:cNvSpPr/>
          <p:nvPr/>
        </p:nvSpPr>
        <p:spPr>
          <a:xfrm>
            <a:off x="777240" y="2350008"/>
            <a:ext cx="457200" cy="274320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16" name="Text 13"/>
          <p:cNvSpPr/>
          <p:nvPr/>
        </p:nvSpPr>
        <p:spPr>
          <a:xfrm>
            <a:off x="777240" y="235000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417320" y="2313432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3B 和 7B 模型的继续分析</a:t>
            </a:r>
            <a:endParaRPr lang="en-US" sz="1400" b="1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17320" y="265176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1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在 Qwen2.5-3B 和 7B 上补充实验，验证 output-only 特征的跨模型泛化性，深入分析内部信号在不同规模模型上的差异。</a:t>
            </a:r>
            <a:endParaRPr lang="en-US" sz="1100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48640" y="3337560"/>
            <a:ext cx="8046720" cy="914400"/>
          </a:xfrm>
          <a:prstGeom prst="rect">
            <a:avLst/>
          </a:prstGeom>
          <a:solidFill>
            <a:srgbClr val="E8EFF5"/>
          </a:solidFill>
        </p:spPr>
      </p:sp>
      <p:sp>
        <p:nvSpPr>
          <p:cNvPr id="20" name="Shape 17"/>
          <p:cNvSpPr/>
          <p:nvPr/>
        </p:nvSpPr>
        <p:spPr>
          <a:xfrm>
            <a:off x="548640" y="3337560"/>
            <a:ext cx="54864" cy="914400"/>
          </a:xfrm>
          <a:prstGeom prst="rect">
            <a:avLst/>
          </a:prstGeom>
          <a:solidFill>
            <a:srgbClr val="3D5A80"/>
          </a:solidFill>
        </p:spPr>
      </p:sp>
      <p:sp>
        <p:nvSpPr>
          <p:cNvPr id="21" name="Shape 18"/>
          <p:cNvSpPr/>
          <p:nvPr/>
        </p:nvSpPr>
        <p:spPr>
          <a:xfrm>
            <a:off x="777240" y="3447288"/>
            <a:ext cx="457200" cy="274320"/>
          </a:xfrm>
          <a:prstGeom prst="rect">
            <a:avLst/>
          </a:prstGeom>
          <a:solidFill>
            <a:srgbClr val="3D5A80"/>
          </a:solidFill>
        </p:spPr>
      </p:sp>
      <p:sp>
        <p:nvSpPr>
          <p:cNvPr id="22" name="Text 19"/>
          <p:cNvSpPr/>
          <p:nvPr/>
        </p:nvSpPr>
        <p:spPr>
          <a:xfrm>
            <a:off x="777240" y="34472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417320" y="3410712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在本地模型上尝试缓解迎合问题</a:t>
            </a:r>
            <a:endParaRPr lang="en-US" sz="1400" b="1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417320" y="3749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1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基于边距坍塌的机制发现，探索在本地可部署模型上通过后处理或轻量干预降低迎合率的方法，评估缓解效果与准确率代价。</a:t>
            </a:r>
            <a:endParaRPr lang="en-US" sz="1100" dirty="0">
              <a:solidFill>
                <a:srgbClr val="1B2A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  |  问答与讨论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中期报告  |  第 11 页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69de00cb0ae88d487dc8c3e2/uploads/be64f087-2723-40e0-b326-96c76934edc7_校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答辩人：何宇航  导师：刘秀芹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2072</Words>
  <Application>WPS 演示</Application>
  <PresentationFormat>On-screen Show (16:9)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汉仪书宋二KW</vt:lpstr>
      <vt:lpstr>Calibri</vt:lpstr>
      <vt:lpstr>Helvetica Neue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中期报告：大语言模型多维特质评估框架的设计与统计方法分析——基于迎合特质量化与干扰检测的风险排序器研究</dc:title>
  <dc:creator>He Yuhang</dc:creator>
  <dc:subject>PptxGenJS Presentation</dc:subject>
  <cp:lastModifiedBy>十七</cp:lastModifiedBy>
  <cp:revision>36</cp:revision>
  <dcterms:created xsi:type="dcterms:W3CDTF">2026-04-22T08:22:40Z</dcterms:created>
  <dcterms:modified xsi:type="dcterms:W3CDTF">2026-04-22T08:22:40Z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12E8908959C0E16BD168E869485339EB_42</vt:lpwstr>
  </property>
</Properties>
</file>